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5" r:id="rId1"/>
  </p:sldMasterIdLst>
  <p:notesMasterIdLst>
    <p:notesMasterId r:id="rId8"/>
  </p:notesMasterIdLst>
  <p:sldIdLst>
    <p:sldId id="256" r:id="rId2"/>
    <p:sldId id="257" r:id="rId3"/>
    <p:sldId id="259" r:id="rId4"/>
    <p:sldId id="258" r:id="rId5"/>
    <p:sldId id="261" r:id="rId6"/>
    <p:sldId id="275" r:id="rId7"/>
  </p:sldIdLst>
  <p:sldSz cx="9144000" cy="5143500" type="screen16x9"/>
  <p:notesSz cx="6858000" cy="9144000"/>
  <p:embeddedFontLst>
    <p:embeddedFont>
      <p:font typeface="Didact Gothic" panose="00000500000000000000" pitchFamily="2" charset="0"/>
      <p:regular r:id="rId9"/>
    </p:embeddedFont>
    <p:embeddedFont>
      <p:font typeface="Libre Franklin" pitchFamily="2" charset="0"/>
      <p:regular r:id="rId10"/>
      <p:bold r:id="rId11"/>
      <p:italic r:id="rId12"/>
      <p:boldItalic r:id="rId13"/>
    </p:embeddedFont>
    <p:embeddedFont>
      <p:font typeface="Nunito Light" pitchFamily="2" charset="0"/>
      <p:regular r:id="rId14"/>
      <p:italic r:id="rId15"/>
    </p:embeddedFont>
    <p:embeddedFont>
      <p:font typeface="Poppins" panose="00000500000000000000" pitchFamily="2" charset="0"/>
      <p:regular r:id="rId16"/>
      <p:bold r:id="rId17"/>
      <p:italic r:id="rId18"/>
      <p:boldItalic r:id="rId19"/>
    </p:embeddedFont>
    <p:embeddedFont>
      <p:font typeface="Raleway"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484D994-7F26-4D2F-814A-9CEF5D0BE90F}">
  <a:tblStyle styleId="{1484D994-7F26-4D2F-814A-9CEF5D0BE90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969" autoAdjust="0"/>
  </p:normalViewPr>
  <p:slideViewPr>
    <p:cSldViewPr snapToGrid="0" showGuides="1">
      <p:cViewPr varScale="1">
        <p:scale>
          <a:sx n="86" d="100"/>
          <a:sy n="86" d="100"/>
        </p:scale>
        <p:origin x="852"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font" Target="fonts/font10.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font" Target="fonts/font9.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7.fntdata"/><Relationship Id="rId23" Type="http://schemas.openxmlformats.org/officeDocument/2006/relationships/font" Target="fonts/font15.fntdata"/><Relationship Id="rId10" Type="http://schemas.openxmlformats.org/officeDocument/2006/relationships/font" Target="fonts/font2.fntdata"/><Relationship Id="rId19"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 Id="rId22" Type="http://schemas.openxmlformats.org/officeDocument/2006/relationships/font" Target="fonts/font14.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b1324a7d30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b1324a7d30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b1022eedc3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2b1022eedc3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b1324a7d30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b1324a7d30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2b1022eedc3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2b1022eedc3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2b1022eedc3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6" name="Google Shape;766;g2b1022eedc3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1355125" y="3745850"/>
            <a:ext cx="45288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8400" y="0"/>
            <a:ext cx="728475" cy="5163250"/>
            <a:chOff x="-8400" y="0"/>
            <a:chExt cx="728475" cy="5163250"/>
          </a:xfrm>
        </p:grpSpPr>
        <p:sp>
          <p:nvSpPr>
            <p:cNvPr id="12" name="Google Shape;12;p2"/>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13" name="Google Shape;13;p2"/>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4047175" y="2571975"/>
            <a:ext cx="4383600" cy="1210500"/>
          </a:xfrm>
          <a:prstGeom prst="rect">
            <a:avLst/>
          </a:prstGeom>
        </p:spPr>
        <p:txBody>
          <a:bodyPr spcFirstLastPara="1" wrap="square" lIns="91425" tIns="91425" rIns="91425" bIns="91425" anchor="t" anchorCtr="0">
            <a:noAutofit/>
          </a:bodyPr>
          <a:lstStyle>
            <a:lvl1pPr lvl="0">
              <a:spcBef>
                <a:spcPts val="0"/>
              </a:spcBef>
              <a:spcAft>
                <a:spcPts val="0"/>
              </a:spcAft>
              <a:buSzPts val="3600"/>
              <a:buNone/>
              <a:defRPr sz="4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6" name="Google Shape;16;p3"/>
          <p:cNvSpPr txBox="1">
            <a:spLocks noGrp="1"/>
          </p:cNvSpPr>
          <p:nvPr>
            <p:ph type="title" idx="2" hasCustomPrompt="1"/>
          </p:nvPr>
        </p:nvSpPr>
        <p:spPr>
          <a:xfrm>
            <a:off x="4047175" y="1321975"/>
            <a:ext cx="1332600" cy="8418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000">
                <a:solidFill>
                  <a:schemeClr val="accent1"/>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7" name="Google Shape;17;p3"/>
          <p:cNvSpPr>
            <a:spLocks noGrp="1"/>
          </p:cNvSpPr>
          <p:nvPr>
            <p:ph type="pic" idx="3"/>
          </p:nvPr>
        </p:nvSpPr>
        <p:spPr>
          <a:xfrm>
            <a:off x="713225" y="539500"/>
            <a:ext cx="2760600" cy="40644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720000" y="1215750"/>
            <a:ext cx="7704000" cy="12240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21" name="Google Shape;21;p4"/>
          <p:cNvGrpSpPr/>
          <p:nvPr/>
        </p:nvGrpSpPr>
        <p:grpSpPr>
          <a:xfrm>
            <a:off x="0" y="0"/>
            <a:ext cx="9144000" cy="312600"/>
            <a:chOff x="0" y="0"/>
            <a:chExt cx="9144000" cy="312600"/>
          </a:xfrm>
        </p:grpSpPr>
        <p:sp>
          <p:nvSpPr>
            <p:cNvPr id="22" name="Google Shape;22;p4"/>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23" name="Google Shape;23;p4"/>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subTitle" idx="1"/>
          </p:nvPr>
        </p:nvSpPr>
        <p:spPr>
          <a:xfrm>
            <a:off x="5056151"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7" name="Google Shape;27;p5"/>
          <p:cNvSpPr txBox="1">
            <a:spLocks noGrp="1"/>
          </p:cNvSpPr>
          <p:nvPr>
            <p:ph type="subTitle" idx="2"/>
          </p:nvPr>
        </p:nvSpPr>
        <p:spPr>
          <a:xfrm>
            <a:off x="1318850" y="2574154"/>
            <a:ext cx="2769000" cy="175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3"/>
          </p:nvPr>
        </p:nvSpPr>
        <p:spPr>
          <a:xfrm>
            <a:off x="1318850"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9" name="Google Shape;29;p5"/>
          <p:cNvSpPr txBox="1">
            <a:spLocks noGrp="1"/>
          </p:cNvSpPr>
          <p:nvPr>
            <p:ph type="subTitle" idx="4"/>
          </p:nvPr>
        </p:nvSpPr>
        <p:spPr>
          <a:xfrm>
            <a:off x="5056153" y="1771900"/>
            <a:ext cx="2769000" cy="5589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solidFill>
                  <a:schemeClr val="dk1"/>
                </a:solidFill>
                <a:latin typeface="Raleway"/>
                <a:ea typeface="Raleway"/>
                <a:cs typeface="Raleway"/>
                <a:sym typeface="Raleway"/>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0" name="Google Shape;30;p5"/>
          <p:cNvGrpSpPr/>
          <p:nvPr/>
        </p:nvGrpSpPr>
        <p:grpSpPr>
          <a:xfrm>
            <a:off x="0" y="0"/>
            <a:ext cx="9144000" cy="312600"/>
            <a:chOff x="0" y="0"/>
            <a:chExt cx="9144000" cy="312600"/>
          </a:xfrm>
        </p:grpSpPr>
        <p:sp>
          <p:nvSpPr>
            <p:cNvPr id="31" name="Google Shape;31;p5"/>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2" name="Google Shape;32;p5"/>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grpSp>
        <p:nvGrpSpPr>
          <p:cNvPr id="35" name="Google Shape;35;p6"/>
          <p:cNvGrpSpPr/>
          <p:nvPr/>
        </p:nvGrpSpPr>
        <p:grpSpPr>
          <a:xfrm>
            <a:off x="0" y="0"/>
            <a:ext cx="9144000" cy="312600"/>
            <a:chOff x="0" y="0"/>
            <a:chExt cx="9144000" cy="312600"/>
          </a:xfrm>
        </p:grpSpPr>
        <p:sp>
          <p:nvSpPr>
            <p:cNvPr id="36" name="Google Shape;36;p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37" name="Google Shape;37;p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subTitle" idx="1"/>
          </p:nvPr>
        </p:nvSpPr>
        <p:spPr>
          <a:xfrm>
            <a:off x="811975" y="2001200"/>
            <a:ext cx="4294800" cy="2295000"/>
          </a:xfrm>
          <a:prstGeom prst="rect">
            <a:avLst/>
          </a:prstGeom>
        </p:spPr>
        <p:txBody>
          <a:bodyPr spcFirstLastPara="1" wrap="square" lIns="91425" tIns="91425" rIns="91425" bIns="91425" anchor="t" anchorCtr="0">
            <a:noAutofit/>
          </a:bodyPr>
          <a:lstStyle>
            <a:lvl1pPr lvl="0">
              <a:spcBef>
                <a:spcPts val="0"/>
              </a:spcBef>
              <a:spcAft>
                <a:spcPts val="0"/>
              </a:spcAft>
              <a:buSzPts val="1200"/>
              <a:buNone/>
              <a:defRPr/>
            </a:lvl1pPr>
            <a:lvl2pPr lvl="1">
              <a:spcBef>
                <a:spcPts val="0"/>
              </a:spcBef>
              <a:spcAft>
                <a:spcPts val="0"/>
              </a:spcAft>
              <a:buSzPts val="12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1200"/>
              <a:buNone/>
              <a:defRPr/>
            </a:lvl5pPr>
            <a:lvl6pPr lvl="5">
              <a:spcBef>
                <a:spcPts val="0"/>
              </a:spcBef>
              <a:spcAft>
                <a:spcPts val="0"/>
              </a:spcAft>
              <a:buSzPts val="1200"/>
              <a:buNone/>
              <a:defRPr/>
            </a:lvl6pPr>
            <a:lvl7pPr lvl="6">
              <a:spcBef>
                <a:spcPts val="0"/>
              </a:spcBef>
              <a:spcAft>
                <a:spcPts val="0"/>
              </a:spcAft>
              <a:buSzPts val="1200"/>
              <a:buNone/>
              <a:defRPr/>
            </a:lvl7pPr>
            <a:lvl8pPr lvl="7">
              <a:spcBef>
                <a:spcPts val="0"/>
              </a:spcBef>
              <a:spcAft>
                <a:spcPts val="0"/>
              </a:spcAft>
              <a:buSzPts val="1200"/>
              <a:buNone/>
              <a:defRPr/>
            </a:lvl8pPr>
            <a:lvl9pPr lvl="8">
              <a:spcBef>
                <a:spcPts val="0"/>
              </a:spcBef>
              <a:spcAft>
                <a:spcPts val="0"/>
              </a:spcAft>
              <a:buSzPts val="1200"/>
              <a:buNone/>
              <a:defRPr/>
            </a:lvl9pPr>
          </a:lstStyle>
          <a:p>
            <a:endParaRPr/>
          </a:p>
        </p:txBody>
      </p:sp>
      <p:sp>
        <p:nvSpPr>
          <p:cNvPr id="40" name="Google Shape;40;p7"/>
          <p:cNvSpPr txBox="1">
            <a:spLocks noGrp="1"/>
          </p:cNvSpPr>
          <p:nvPr>
            <p:ph type="title"/>
          </p:nvPr>
        </p:nvSpPr>
        <p:spPr>
          <a:xfrm>
            <a:off x="811975" y="1017225"/>
            <a:ext cx="4294800" cy="572700"/>
          </a:xfrm>
          <a:prstGeom prst="rect">
            <a:avLst/>
          </a:prstGeom>
        </p:spPr>
        <p:txBody>
          <a:bodyPr spcFirstLastPara="1" wrap="square" lIns="91425" tIns="91425" rIns="91425" bIns="91425" anchor="b"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1" name="Google Shape;41;p7"/>
          <p:cNvSpPr>
            <a:spLocks noGrp="1"/>
          </p:cNvSpPr>
          <p:nvPr>
            <p:ph type="pic" idx="2"/>
          </p:nvPr>
        </p:nvSpPr>
        <p:spPr>
          <a:xfrm>
            <a:off x="5643775" y="539500"/>
            <a:ext cx="2787000" cy="4064400"/>
          </a:xfrm>
          <a:prstGeom prst="rect">
            <a:avLst/>
          </a:prstGeom>
          <a:noFill/>
          <a:ln>
            <a:noFill/>
          </a:ln>
        </p:spPr>
      </p:sp>
      <p:grpSp>
        <p:nvGrpSpPr>
          <p:cNvPr id="42" name="Google Shape;42;p7"/>
          <p:cNvGrpSpPr/>
          <p:nvPr/>
        </p:nvGrpSpPr>
        <p:grpSpPr>
          <a:xfrm>
            <a:off x="0" y="0"/>
            <a:ext cx="9144000" cy="312600"/>
            <a:chOff x="0" y="0"/>
            <a:chExt cx="9144000" cy="312600"/>
          </a:xfrm>
        </p:grpSpPr>
        <p:sp>
          <p:nvSpPr>
            <p:cNvPr id="43" name="Google Shape;43;p7"/>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4" name="Google Shape;44;p7"/>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47" name="Google Shape;47;p8"/>
          <p:cNvGrpSpPr/>
          <p:nvPr/>
        </p:nvGrpSpPr>
        <p:grpSpPr>
          <a:xfrm>
            <a:off x="-8400" y="0"/>
            <a:ext cx="728475" cy="5163250"/>
            <a:chOff x="-8400" y="0"/>
            <a:chExt cx="728475" cy="5163250"/>
          </a:xfrm>
        </p:grpSpPr>
        <p:sp>
          <p:nvSpPr>
            <p:cNvPr id="48" name="Google Shape;48;p8"/>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49" name="Google Shape;49;p8"/>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sp>
        <p:nvSpPr>
          <p:cNvPr id="51" name="Google Shape;51;p9"/>
          <p:cNvSpPr txBox="1">
            <a:spLocks noGrp="1"/>
          </p:cNvSpPr>
          <p:nvPr>
            <p:ph type="title"/>
          </p:nvPr>
        </p:nvSpPr>
        <p:spPr>
          <a:xfrm>
            <a:off x="2135550" y="1189100"/>
            <a:ext cx="4872900" cy="1964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6000"/>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52" name="Google Shape;52;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53" name="Google Shape;53;p9"/>
          <p:cNvGrpSpPr/>
          <p:nvPr/>
        </p:nvGrpSpPr>
        <p:grpSpPr>
          <a:xfrm>
            <a:off x="-8400" y="0"/>
            <a:ext cx="728475" cy="5163250"/>
            <a:chOff x="-8400" y="0"/>
            <a:chExt cx="728475" cy="5163250"/>
          </a:xfrm>
        </p:grpSpPr>
        <p:sp>
          <p:nvSpPr>
            <p:cNvPr id="54" name="Google Shape;54;p9"/>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55" name="Google Shape;55;p9"/>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6"/>
        <p:cNvGrpSpPr/>
        <p:nvPr/>
      </p:nvGrpSpPr>
      <p:grpSpPr>
        <a:xfrm>
          <a:off x="0" y="0"/>
          <a:ext cx="0" cy="0"/>
          <a:chOff x="0" y="0"/>
          <a:chExt cx="0" cy="0"/>
        </a:xfrm>
      </p:grpSpPr>
      <p:sp>
        <p:nvSpPr>
          <p:cNvPr id="57" name="Google Shape;57;p10"/>
          <p:cNvSpPr>
            <a:spLocks noGrp="1"/>
          </p:cNvSpPr>
          <p:nvPr>
            <p:ph type="pic" idx="2"/>
          </p:nvPr>
        </p:nvSpPr>
        <p:spPr>
          <a:xfrm>
            <a:off x="0" y="0"/>
            <a:ext cx="9144000" cy="5143500"/>
          </a:xfrm>
          <a:prstGeom prst="rect">
            <a:avLst/>
          </a:prstGeom>
          <a:noFill/>
          <a:ln>
            <a:noFill/>
          </a:ln>
        </p:spPr>
      </p:sp>
      <p:sp>
        <p:nvSpPr>
          <p:cNvPr id="58" name="Google Shape;58;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9"/>
        <p:cNvGrpSpPr/>
        <p:nvPr/>
      </p:nvGrpSpPr>
      <p:grpSpPr>
        <a:xfrm>
          <a:off x="0" y="0"/>
          <a:ext cx="0" cy="0"/>
          <a:chOff x="0" y="0"/>
          <a:chExt cx="0" cy="0"/>
        </a:xfrm>
      </p:grpSpPr>
      <p:sp>
        <p:nvSpPr>
          <p:cNvPr id="60" name="Google Shape;60;p11"/>
          <p:cNvSpPr txBox="1">
            <a:spLocks noGrp="1"/>
          </p:cNvSpPr>
          <p:nvPr>
            <p:ph type="title" hasCustomPrompt="1"/>
          </p:nvPr>
        </p:nvSpPr>
        <p:spPr>
          <a:xfrm>
            <a:off x="1284000" y="1303775"/>
            <a:ext cx="6576000" cy="1654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1"/>
          <p:cNvSpPr txBox="1">
            <a:spLocks noGrp="1"/>
          </p:cNvSpPr>
          <p:nvPr>
            <p:ph type="subTitle" idx="1"/>
          </p:nvPr>
        </p:nvSpPr>
        <p:spPr>
          <a:xfrm>
            <a:off x="1284000" y="3259075"/>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62" name="Google Shape;62;p11"/>
          <p:cNvGrpSpPr/>
          <p:nvPr/>
        </p:nvGrpSpPr>
        <p:grpSpPr>
          <a:xfrm>
            <a:off x="-8400" y="0"/>
            <a:ext cx="728475" cy="5163250"/>
            <a:chOff x="-8400" y="0"/>
            <a:chExt cx="728475" cy="5163250"/>
          </a:xfrm>
        </p:grpSpPr>
        <p:sp>
          <p:nvSpPr>
            <p:cNvPr id="63" name="Google Shape;63;p11"/>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64" name="Google Shape;64;p11"/>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3"/>
        </a:solidFill>
        <a:effectLst/>
      </p:bgPr>
    </p:bg>
    <p:spTree>
      <p:nvGrpSpPr>
        <p:cNvPr id="1" name="Shape 65"/>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66"/>
        <p:cNvGrpSpPr/>
        <p:nvPr/>
      </p:nvGrpSpPr>
      <p:grpSpPr>
        <a:xfrm>
          <a:off x="0" y="0"/>
          <a:ext cx="0" cy="0"/>
          <a:chOff x="0" y="0"/>
          <a:chExt cx="0" cy="0"/>
        </a:xfrm>
      </p:grpSpPr>
      <p:sp>
        <p:nvSpPr>
          <p:cNvPr id="67" name="Google Shape;67;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8" name="Google Shape;68;p13"/>
          <p:cNvSpPr txBox="1">
            <a:spLocks noGrp="1"/>
          </p:cNvSpPr>
          <p:nvPr>
            <p:ph type="title" idx="2" hasCustomPrompt="1"/>
          </p:nvPr>
        </p:nvSpPr>
        <p:spPr>
          <a:xfrm>
            <a:off x="720000"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a:spLocks noGrp="1"/>
          </p:cNvSpPr>
          <p:nvPr>
            <p:ph type="title" idx="3" hasCustomPrompt="1"/>
          </p:nvPr>
        </p:nvSpPr>
        <p:spPr>
          <a:xfrm>
            <a:off x="720000"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0" name="Google Shape;70;p13"/>
          <p:cNvSpPr txBox="1">
            <a:spLocks noGrp="1"/>
          </p:cNvSpPr>
          <p:nvPr>
            <p:ph type="title" idx="4" hasCustomPrompt="1"/>
          </p:nvPr>
        </p:nvSpPr>
        <p:spPr>
          <a:xfrm>
            <a:off x="3419275"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a:spLocks noGrp="1"/>
          </p:cNvSpPr>
          <p:nvPr>
            <p:ph type="title" idx="5" hasCustomPrompt="1"/>
          </p:nvPr>
        </p:nvSpPr>
        <p:spPr>
          <a:xfrm>
            <a:off x="3419275"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2" name="Google Shape;72;p13"/>
          <p:cNvSpPr txBox="1">
            <a:spLocks noGrp="1"/>
          </p:cNvSpPr>
          <p:nvPr>
            <p:ph type="title" idx="6" hasCustomPrompt="1"/>
          </p:nvPr>
        </p:nvSpPr>
        <p:spPr>
          <a:xfrm>
            <a:off x="6118550" y="1611324"/>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3" name="Google Shape;73;p13"/>
          <p:cNvSpPr txBox="1">
            <a:spLocks noGrp="1"/>
          </p:cNvSpPr>
          <p:nvPr>
            <p:ph type="title" idx="7" hasCustomPrompt="1"/>
          </p:nvPr>
        </p:nvSpPr>
        <p:spPr>
          <a:xfrm>
            <a:off x="6118550" y="3044627"/>
            <a:ext cx="734700" cy="504900"/>
          </a:xfrm>
          <a:prstGeom prst="rect">
            <a:avLst/>
          </a:prstGeom>
          <a:noFill/>
        </p:spPr>
        <p:txBody>
          <a:bodyPr spcFirstLastPara="1" wrap="square" lIns="91425" tIns="91425" rIns="91425" bIns="91425" anchor="b"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4" name="Google Shape;74;p13"/>
          <p:cNvSpPr txBox="1">
            <a:spLocks noGrp="1"/>
          </p:cNvSpPr>
          <p:nvPr>
            <p:ph type="subTitle" idx="1"/>
          </p:nvPr>
        </p:nvSpPr>
        <p:spPr>
          <a:xfrm>
            <a:off x="720000"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5" name="Google Shape;75;p13"/>
          <p:cNvSpPr txBox="1">
            <a:spLocks noGrp="1"/>
          </p:cNvSpPr>
          <p:nvPr>
            <p:ph type="subTitle" idx="8"/>
          </p:nvPr>
        </p:nvSpPr>
        <p:spPr>
          <a:xfrm>
            <a:off x="3419275"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6" name="Google Shape;76;p13"/>
          <p:cNvSpPr txBox="1">
            <a:spLocks noGrp="1"/>
          </p:cNvSpPr>
          <p:nvPr>
            <p:ph type="subTitle" idx="9"/>
          </p:nvPr>
        </p:nvSpPr>
        <p:spPr>
          <a:xfrm>
            <a:off x="6118550" y="2293450"/>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7" name="Google Shape;77;p13"/>
          <p:cNvSpPr txBox="1">
            <a:spLocks noGrp="1"/>
          </p:cNvSpPr>
          <p:nvPr>
            <p:ph type="subTitle" idx="13"/>
          </p:nvPr>
        </p:nvSpPr>
        <p:spPr>
          <a:xfrm>
            <a:off x="720000" y="3726825"/>
            <a:ext cx="23814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8" name="Google Shape;78;p13"/>
          <p:cNvSpPr txBox="1">
            <a:spLocks noGrp="1"/>
          </p:cNvSpPr>
          <p:nvPr>
            <p:ph type="subTitle" idx="14"/>
          </p:nvPr>
        </p:nvSpPr>
        <p:spPr>
          <a:xfrm>
            <a:off x="3419275" y="3726825"/>
            <a:ext cx="23055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79" name="Google Shape;79;p13"/>
          <p:cNvSpPr txBox="1">
            <a:spLocks noGrp="1"/>
          </p:cNvSpPr>
          <p:nvPr>
            <p:ph type="subTitle" idx="15"/>
          </p:nvPr>
        </p:nvSpPr>
        <p:spPr>
          <a:xfrm>
            <a:off x="6118550" y="3726825"/>
            <a:ext cx="2479200" cy="447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b="1">
                <a:latin typeface="Poppins"/>
                <a:ea typeface="Poppins"/>
                <a:cs typeface="Poppins"/>
                <a:sym typeface="Poppins"/>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80" name="Google Shape;80;p13"/>
          <p:cNvGrpSpPr/>
          <p:nvPr/>
        </p:nvGrpSpPr>
        <p:grpSpPr>
          <a:xfrm>
            <a:off x="0" y="0"/>
            <a:ext cx="9144000" cy="312600"/>
            <a:chOff x="0" y="0"/>
            <a:chExt cx="9144000" cy="312600"/>
          </a:xfrm>
        </p:grpSpPr>
        <p:sp>
          <p:nvSpPr>
            <p:cNvPr id="81" name="Google Shape;81;p13"/>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82" name="Google Shape;82;p13"/>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90"/>
        <p:cNvGrpSpPr/>
        <p:nvPr/>
      </p:nvGrpSpPr>
      <p:grpSpPr>
        <a:xfrm>
          <a:off x="0" y="0"/>
          <a:ext cx="0" cy="0"/>
          <a:chOff x="0" y="0"/>
          <a:chExt cx="0" cy="0"/>
        </a:xfrm>
      </p:grpSpPr>
      <p:grpSp>
        <p:nvGrpSpPr>
          <p:cNvPr id="91" name="Google Shape;91;p15"/>
          <p:cNvGrpSpPr/>
          <p:nvPr/>
        </p:nvGrpSpPr>
        <p:grpSpPr>
          <a:xfrm rot="10800000">
            <a:off x="8415525" y="0"/>
            <a:ext cx="728475" cy="5163250"/>
            <a:chOff x="-8400" y="0"/>
            <a:chExt cx="728475" cy="5163250"/>
          </a:xfrm>
        </p:grpSpPr>
        <p:sp>
          <p:nvSpPr>
            <p:cNvPr id="92" name="Google Shape;92;p15"/>
            <p:cNvSpPr/>
            <p:nvPr/>
          </p:nvSpPr>
          <p:spPr>
            <a:xfrm rot="5400000">
              <a:off x="-1968300" y="2474950"/>
              <a:ext cx="4648200" cy="7284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3" name="Google Shape;93;p15"/>
            <p:cNvSpPr/>
            <p:nvPr/>
          </p:nvSpPr>
          <p:spPr>
            <a:xfrm>
              <a:off x="-8325" y="0"/>
              <a:ext cx="728400" cy="6393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94"/>
        <p:cNvGrpSpPr/>
        <p:nvPr/>
      </p:nvGrpSpPr>
      <p:grpSpPr>
        <a:xfrm>
          <a:off x="0" y="0"/>
          <a:ext cx="0" cy="0"/>
          <a:chOff x="0" y="0"/>
          <a:chExt cx="0" cy="0"/>
        </a:xfrm>
      </p:grpSpPr>
      <p:grpSp>
        <p:nvGrpSpPr>
          <p:cNvPr id="95" name="Google Shape;95;p16"/>
          <p:cNvGrpSpPr/>
          <p:nvPr/>
        </p:nvGrpSpPr>
        <p:grpSpPr>
          <a:xfrm rot="10800000">
            <a:off x="0" y="4830900"/>
            <a:ext cx="9144000" cy="312600"/>
            <a:chOff x="0" y="0"/>
            <a:chExt cx="9144000" cy="312600"/>
          </a:xfrm>
        </p:grpSpPr>
        <p:sp>
          <p:nvSpPr>
            <p:cNvPr id="96" name="Google Shape;96;p16"/>
            <p:cNvSpPr/>
            <p:nvPr/>
          </p:nvSpPr>
          <p:spPr>
            <a:xfrm>
              <a:off x="0" y="0"/>
              <a:ext cx="9144000" cy="3126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sp>
          <p:nvSpPr>
            <p:cNvPr id="97" name="Google Shape;97;p16"/>
            <p:cNvSpPr/>
            <p:nvPr/>
          </p:nvSpPr>
          <p:spPr>
            <a:xfrm>
              <a:off x="0" y="0"/>
              <a:ext cx="713100" cy="3126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ibre Franklin"/>
                <a:ea typeface="Libre Franklin"/>
                <a:cs typeface="Libre Franklin"/>
                <a:sym typeface="Libre Franklin"/>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1pPr>
            <a:lvl2pPr lvl="1"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2pPr>
            <a:lvl3pPr lvl="2"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3pPr>
            <a:lvl4pPr lvl="3"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4pPr>
            <a:lvl5pPr lvl="4"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5pPr>
            <a:lvl6pPr lvl="5"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6pPr>
            <a:lvl7pPr lvl="6"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7pPr>
            <a:lvl8pPr lvl="7"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8pPr>
            <a:lvl9pPr lvl="8" rtl="0">
              <a:spcBef>
                <a:spcPts val="0"/>
              </a:spcBef>
              <a:spcAft>
                <a:spcPts val="0"/>
              </a:spcAft>
              <a:buClr>
                <a:schemeClr val="dk1"/>
              </a:buClr>
              <a:buSzPts val="2800"/>
              <a:buFont typeface="Poppins"/>
              <a:buNone/>
              <a:defRPr sz="2800" b="1">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1pPr>
            <a:lvl2pPr marL="914400" lvl="1"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2pPr>
            <a:lvl3pPr marL="1371600" lvl="2"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3pPr>
            <a:lvl4pPr marL="1828800" lvl="3"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4pPr>
            <a:lvl5pPr marL="2286000" lvl="4"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5pPr>
            <a:lvl6pPr marL="2743200" lvl="5"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6pPr>
            <a:lvl7pPr marL="3200400" lvl="6"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7pPr>
            <a:lvl8pPr marL="3657600" lvl="7"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8pPr>
            <a:lvl9pPr marL="4114800" lvl="8" indent="-304800">
              <a:lnSpc>
                <a:spcPct val="100000"/>
              </a:lnSpc>
              <a:spcBef>
                <a:spcPts val="0"/>
              </a:spcBef>
              <a:spcAft>
                <a:spcPts val="0"/>
              </a:spcAft>
              <a:buClr>
                <a:schemeClr val="dk1"/>
              </a:buClr>
              <a:buSzPts val="1200"/>
              <a:buFont typeface="Didact Gothic"/>
              <a:buChar char="■"/>
              <a:defRPr sz="1200">
                <a:solidFill>
                  <a:schemeClr val="dk1"/>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 id="214748366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34848/JLP6C3"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
        <p:cNvGrpSpPr/>
        <p:nvPr/>
      </p:nvGrpSpPr>
      <p:grpSpPr>
        <a:xfrm>
          <a:off x="0" y="0"/>
          <a:ext cx="0" cy="0"/>
          <a:chOff x="0" y="0"/>
          <a:chExt cx="0" cy="0"/>
        </a:xfrm>
      </p:grpSpPr>
      <p:sp>
        <p:nvSpPr>
          <p:cNvPr id="108" name="Google Shape;108;p20"/>
          <p:cNvSpPr txBox="1">
            <a:spLocks noGrp="1"/>
          </p:cNvSpPr>
          <p:nvPr>
            <p:ph type="ctrTitle"/>
          </p:nvPr>
        </p:nvSpPr>
        <p:spPr>
          <a:xfrm>
            <a:off x="1355125" y="814525"/>
            <a:ext cx="6350100" cy="2607900"/>
          </a:xfrm>
          <a:prstGeom prst="rect">
            <a:avLst/>
          </a:prstGeom>
        </p:spPr>
        <p:txBody>
          <a:bodyPr spcFirstLastPara="1" wrap="square" lIns="91425" tIns="91425" rIns="91425" bIns="91425" anchor="b" anchorCtr="0">
            <a:noAutofit/>
          </a:bodyPr>
          <a:lstStyle/>
          <a:p>
            <a:pPr lvl="0"/>
            <a:r>
              <a:rPr lang="es-MX" sz="4000" dirty="0"/>
              <a:t>¿Cómo se conectan los micronegocios con el sector financiero?</a:t>
            </a:r>
            <a:endParaRPr sz="4000" b="0" dirty="0"/>
          </a:p>
        </p:txBody>
      </p:sp>
      <p:sp>
        <p:nvSpPr>
          <p:cNvPr id="109" name="Google Shape;109;p20"/>
          <p:cNvSpPr txBox="1">
            <a:spLocks noGrp="1"/>
          </p:cNvSpPr>
          <p:nvPr>
            <p:ph type="subTitle" idx="1"/>
          </p:nvPr>
        </p:nvSpPr>
        <p:spPr>
          <a:xfrm>
            <a:off x="1355125" y="3745850"/>
            <a:ext cx="523818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Sara Torres Bohórquez &amp; Juan Pablo Manjarres Buitrago</a:t>
            </a:r>
            <a:endParaRPr dirty="0"/>
          </a:p>
        </p:txBody>
      </p:sp>
      <p:cxnSp>
        <p:nvCxnSpPr>
          <p:cNvPr id="110" name="Google Shape;110;p20"/>
          <p:cNvCxnSpPr/>
          <p:nvPr/>
        </p:nvCxnSpPr>
        <p:spPr>
          <a:xfrm>
            <a:off x="1431100" y="3588172"/>
            <a:ext cx="58350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Motivación</a:t>
            </a:r>
            <a:endParaRPr dirty="0"/>
          </a:p>
        </p:txBody>
      </p:sp>
      <p:sp>
        <p:nvSpPr>
          <p:cNvPr id="116" name="Google Shape;116;p21"/>
          <p:cNvSpPr txBox="1">
            <a:spLocks noGrp="1"/>
          </p:cNvSpPr>
          <p:nvPr>
            <p:ph type="title" idx="2"/>
          </p:nvPr>
        </p:nvSpPr>
        <p:spPr>
          <a:xfrm>
            <a:off x="720001" y="1405535"/>
            <a:ext cx="734700" cy="50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500" dirty="0"/>
              <a:t>01</a:t>
            </a:r>
            <a:endParaRPr sz="2500" dirty="0"/>
          </a:p>
        </p:txBody>
      </p:sp>
      <p:sp>
        <p:nvSpPr>
          <p:cNvPr id="117" name="Google Shape;117;p21"/>
          <p:cNvSpPr txBox="1">
            <a:spLocks noGrp="1"/>
          </p:cNvSpPr>
          <p:nvPr>
            <p:ph type="title" idx="3"/>
          </p:nvPr>
        </p:nvSpPr>
        <p:spPr>
          <a:xfrm>
            <a:off x="720001" y="2838838"/>
            <a:ext cx="734700" cy="504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500" dirty="0"/>
              <a:t>02</a:t>
            </a:r>
            <a:endParaRPr sz="2500" dirty="0"/>
          </a:p>
        </p:txBody>
      </p:sp>
      <p:sp>
        <p:nvSpPr>
          <p:cNvPr id="122" name="Google Shape;122;p21"/>
          <p:cNvSpPr txBox="1">
            <a:spLocks noGrp="1"/>
          </p:cNvSpPr>
          <p:nvPr>
            <p:ph type="subTitle" idx="1"/>
          </p:nvPr>
        </p:nvSpPr>
        <p:spPr>
          <a:xfrm>
            <a:off x="720000" y="2087660"/>
            <a:ext cx="7413347" cy="733825"/>
          </a:xfrm>
          <a:prstGeom prst="rect">
            <a:avLst/>
          </a:prstGeom>
        </p:spPr>
        <p:txBody>
          <a:bodyPr spcFirstLastPara="1" wrap="square" lIns="91425" tIns="91425" rIns="91425" bIns="91425" anchor="b" anchorCtr="0">
            <a:noAutofit/>
          </a:bodyPr>
          <a:lstStyle/>
          <a:p>
            <a:pPr marL="0" lvl="0" indent="0"/>
            <a:r>
              <a:rPr lang="es-MX" b="0" dirty="0"/>
              <a:t>Identificar cómo los micronegocios se relacionan con bancos y otros actores del sistema financiero.</a:t>
            </a:r>
            <a:endParaRPr b="0" dirty="0"/>
          </a:p>
        </p:txBody>
      </p:sp>
      <p:sp>
        <p:nvSpPr>
          <p:cNvPr id="125" name="Google Shape;125;p21"/>
          <p:cNvSpPr txBox="1">
            <a:spLocks noGrp="1"/>
          </p:cNvSpPr>
          <p:nvPr>
            <p:ph type="subTitle" idx="13"/>
          </p:nvPr>
        </p:nvSpPr>
        <p:spPr>
          <a:xfrm>
            <a:off x="720001" y="3521035"/>
            <a:ext cx="7413346" cy="733823"/>
          </a:xfrm>
          <a:prstGeom prst="rect">
            <a:avLst/>
          </a:prstGeom>
        </p:spPr>
        <p:txBody>
          <a:bodyPr spcFirstLastPara="1" wrap="square" lIns="91425" tIns="91425" rIns="91425" bIns="91425" anchor="b" anchorCtr="0">
            <a:noAutofit/>
          </a:bodyPr>
          <a:lstStyle/>
          <a:p>
            <a:pPr marL="0" lvl="0" indent="0">
              <a:buSzPts val="1100"/>
            </a:pPr>
            <a:r>
              <a:rPr lang="es-MX" b="0" dirty="0"/>
              <a:t>Analizar las barreras y oportunidades de acceso a crédito y servicios financieros.</a:t>
            </a:r>
            <a:endParaRPr b="0" dirty="0"/>
          </a:p>
        </p:txBody>
      </p:sp>
      <p:cxnSp>
        <p:nvCxnSpPr>
          <p:cNvPr id="128" name="Google Shape;128;p21"/>
          <p:cNvCxnSpPr/>
          <p:nvPr/>
        </p:nvCxnSpPr>
        <p:spPr>
          <a:xfrm>
            <a:off x="821255" y="3354524"/>
            <a:ext cx="1205700" cy="0"/>
          </a:xfrm>
          <a:prstGeom prst="straightConnector1">
            <a:avLst/>
          </a:prstGeom>
          <a:noFill/>
          <a:ln w="9525" cap="flat" cmpd="sng">
            <a:solidFill>
              <a:schemeClr val="dk1"/>
            </a:solidFill>
            <a:prstDash val="solid"/>
            <a:round/>
            <a:headEnd type="none" w="med" len="med"/>
            <a:tailEnd type="none" w="med" len="med"/>
          </a:ln>
        </p:spPr>
      </p:cxnSp>
      <p:cxnSp>
        <p:nvCxnSpPr>
          <p:cNvPr id="131" name="Google Shape;131;p21"/>
          <p:cNvCxnSpPr/>
          <p:nvPr/>
        </p:nvCxnSpPr>
        <p:spPr>
          <a:xfrm>
            <a:off x="821255" y="1910299"/>
            <a:ext cx="12057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lvl="0"/>
            <a:r>
              <a:rPr lang="es-MX" sz="2700" dirty="0">
                <a:latin typeface="Didact Gothic" panose="00000500000000000000" pitchFamily="2" charset="0"/>
              </a:rPr>
              <a:t>Acceso al crédito bancario de los micronegocios</a:t>
            </a:r>
            <a:endParaRPr sz="2700" dirty="0">
              <a:latin typeface="Didact Gothic" panose="00000500000000000000" pitchFamily="2" charset="0"/>
            </a:endParaRPr>
          </a:p>
        </p:txBody>
      </p:sp>
      <p:sp>
        <p:nvSpPr>
          <p:cNvPr id="175" name="Google Shape;175;p23"/>
          <p:cNvSpPr txBox="1">
            <a:spLocks noGrp="1"/>
          </p:cNvSpPr>
          <p:nvPr>
            <p:ph type="subTitle" idx="4294967295"/>
          </p:nvPr>
        </p:nvSpPr>
        <p:spPr>
          <a:xfrm>
            <a:off x="5390147" y="1804704"/>
            <a:ext cx="2865411" cy="2237790"/>
          </a:xfrm>
          <a:prstGeom prst="rect">
            <a:avLst/>
          </a:prstGeom>
        </p:spPr>
        <p:txBody>
          <a:bodyPr spcFirstLastPara="1" wrap="square" lIns="91425" tIns="91425" rIns="91425" bIns="91425" anchor="t" anchorCtr="0">
            <a:noAutofit/>
          </a:bodyPr>
          <a:lstStyle/>
          <a:p>
            <a:pPr marL="171450" indent="-171450" algn="just"/>
            <a:r>
              <a:rPr lang="es-MX" dirty="0"/>
              <a:t>Esta gráfica corresponde a los micronegocios que </a:t>
            </a:r>
            <a:r>
              <a:rPr lang="es-MX" b="1" dirty="0"/>
              <a:t>sí solicitaron algún crédito en los últimos 12 meses</a:t>
            </a:r>
            <a:r>
              <a:rPr lang="es-MX" dirty="0"/>
              <a:t>. Por tanto, las respuestas están condicionadas a esa solicitud previa y muestran el resultado del acercamiento al sistema bancario: quiénes accedieron efectivamente al crédito, quiénes fueron rechazados y quiénes, aun obteniéndolo, no lo utilizaron.</a:t>
            </a:r>
            <a:endParaRPr dirty="0"/>
          </a:p>
        </p:txBody>
      </p:sp>
      <p:pic>
        <p:nvPicPr>
          <p:cNvPr id="3" name="Imagen 2">
            <a:extLst>
              <a:ext uri="{FF2B5EF4-FFF2-40B4-BE49-F238E27FC236}">
                <a16:creationId xmlns:a16="http://schemas.microsoft.com/office/drawing/2014/main" id="{625148D7-6276-B1EA-A188-569DAE5AFFEA}"/>
              </a:ext>
            </a:extLst>
          </p:cNvPr>
          <p:cNvPicPr>
            <a:picLocks noChangeAspect="1"/>
          </p:cNvPicPr>
          <p:nvPr/>
        </p:nvPicPr>
        <p:blipFill>
          <a:blip r:embed="rId3"/>
          <a:stretch>
            <a:fillRect/>
          </a:stretch>
        </p:blipFill>
        <p:spPr>
          <a:xfrm>
            <a:off x="817035" y="1390074"/>
            <a:ext cx="4286250" cy="30670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4" name="Google Shape;169;p23">
            <a:extLst>
              <a:ext uri="{FF2B5EF4-FFF2-40B4-BE49-F238E27FC236}">
                <a16:creationId xmlns:a16="http://schemas.microsoft.com/office/drawing/2014/main" id="{FEFB390D-5B41-7088-E48A-3DD4F2E09D35}"/>
              </a:ext>
            </a:extLst>
          </p:cNvPr>
          <p:cNvSpPr txBox="1">
            <a:spLocks noGrp="1"/>
          </p:cNvSpPr>
          <p:nvPr>
            <p:ph type="title"/>
          </p:nvPr>
        </p:nvSpPr>
        <p:spPr>
          <a:xfrm>
            <a:off x="1009705" y="528306"/>
            <a:ext cx="7124589" cy="572700"/>
          </a:xfrm>
          <a:prstGeom prst="rect">
            <a:avLst/>
          </a:prstGeom>
        </p:spPr>
        <p:txBody>
          <a:bodyPr spcFirstLastPara="1" wrap="square" lIns="91425" tIns="91425" rIns="91425" bIns="91425" anchor="t" anchorCtr="0">
            <a:noAutofit/>
          </a:bodyPr>
          <a:lstStyle/>
          <a:p>
            <a:pPr lvl="0"/>
            <a:r>
              <a:rPr lang="es-MX" sz="2700" dirty="0">
                <a:latin typeface="Didact Gothic" panose="00000500000000000000" pitchFamily="2" charset="0"/>
              </a:rPr>
              <a:t>Estrategias de financiamiento ante restricciones bancarias</a:t>
            </a:r>
            <a:endParaRPr sz="2700" dirty="0">
              <a:latin typeface="Didact Gothic" panose="00000500000000000000" pitchFamily="2" charset="0"/>
            </a:endParaRPr>
          </a:p>
        </p:txBody>
      </p:sp>
      <p:sp>
        <p:nvSpPr>
          <p:cNvPr id="5" name="Google Shape;175;p23">
            <a:extLst>
              <a:ext uri="{FF2B5EF4-FFF2-40B4-BE49-F238E27FC236}">
                <a16:creationId xmlns:a16="http://schemas.microsoft.com/office/drawing/2014/main" id="{04094C68-44F0-779D-BD7A-3CB08AEC6ED0}"/>
              </a:ext>
            </a:extLst>
          </p:cNvPr>
          <p:cNvSpPr txBox="1">
            <a:spLocks/>
          </p:cNvSpPr>
          <p:nvPr/>
        </p:nvSpPr>
        <p:spPr>
          <a:xfrm>
            <a:off x="1335507" y="2167200"/>
            <a:ext cx="2237874" cy="204219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1pPr>
            <a:lvl2pPr marL="914400" marR="0" lvl="1"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2pPr>
            <a:lvl3pPr marL="1371600" marR="0" lvl="2"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3pPr>
            <a:lvl4pPr marL="1828800" marR="0" lvl="3"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4pPr>
            <a:lvl5pPr marL="2286000" marR="0" lvl="4"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5pPr>
            <a:lvl6pPr marL="2743200" marR="0" lvl="5"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6pPr>
            <a:lvl7pPr marL="3200400" marR="0" lvl="6"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7pPr>
            <a:lvl8pPr marL="3657600" marR="0" lvl="7"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8pPr>
            <a:lvl9pPr marL="4114800" marR="0" lvl="8"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9pPr>
          </a:lstStyle>
          <a:p>
            <a:pPr marL="171450" indent="-171450" algn="just"/>
            <a:r>
              <a:rPr lang="es-MX" dirty="0"/>
              <a:t>Esta gráfica complementa la anterior al mostrar cómo los micronegocios ajustan sus decisiones de inversión cuando el crédito bancario no está disponible, evidenciando el paso del financiamiento formal hacia alternativas propias o informales.</a:t>
            </a:r>
          </a:p>
        </p:txBody>
      </p:sp>
      <p:pic>
        <p:nvPicPr>
          <p:cNvPr id="8" name="Imagen 7">
            <a:extLst>
              <a:ext uri="{FF2B5EF4-FFF2-40B4-BE49-F238E27FC236}">
                <a16:creationId xmlns:a16="http://schemas.microsoft.com/office/drawing/2014/main" id="{ABB3AABB-40DF-D8A9-AC7B-340949A0DCC8}"/>
              </a:ext>
            </a:extLst>
          </p:cNvPr>
          <p:cNvPicPr>
            <a:picLocks noChangeAspect="1"/>
          </p:cNvPicPr>
          <p:nvPr/>
        </p:nvPicPr>
        <p:blipFill>
          <a:blip r:embed="rId3"/>
          <a:stretch>
            <a:fillRect/>
          </a:stretch>
        </p:blipFill>
        <p:spPr>
          <a:xfrm>
            <a:off x="3910262" y="1654771"/>
            <a:ext cx="4010025" cy="30670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4" name="Google Shape;169;p23">
            <a:extLst>
              <a:ext uri="{FF2B5EF4-FFF2-40B4-BE49-F238E27FC236}">
                <a16:creationId xmlns:a16="http://schemas.microsoft.com/office/drawing/2014/main" id="{141FA7C7-EC7C-A16B-5CBE-57B45C69A879}"/>
              </a:ext>
            </a:extLst>
          </p:cNvPr>
          <p:cNvSpPr txBox="1">
            <a:spLocks noGrp="1"/>
          </p:cNvSpPr>
          <p:nvPr>
            <p:ph type="title"/>
          </p:nvPr>
        </p:nvSpPr>
        <p:spPr>
          <a:xfrm>
            <a:off x="716123" y="445806"/>
            <a:ext cx="7711753" cy="543327"/>
          </a:xfrm>
          <a:prstGeom prst="rect">
            <a:avLst/>
          </a:prstGeom>
        </p:spPr>
        <p:txBody>
          <a:bodyPr spcFirstLastPara="1" wrap="square" lIns="91425" tIns="91425" rIns="91425" bIns="91425" anchor="t" anchorCtr="0">
            <a:noAutofit/>
          </a:bodyPr>
          <a:lstStyle/>
          <a:p>
            <a:pPr lvl="0"/>
            <a:r>
              <a:rPr lang="es-MX" sz="2400" dirty="0">
                <a:latin typeface="Didact Gothic" panose="00000500000000000000" pitchFamily="2" charset="0"/>
              </a:rPr>
              <a:t>Organización del código y reproducibilidad del análisis</a:t>
            </a:r>
            <a:endParaRPr sz="2400" dirty="0">
              <a:latin typeface="Didact Gothic" panose="00000500000000000000" pitchFamily="2" charset="0"/>
            </a:endParaRPr>
          </a:p>
        </p:txBody>
      </p:sp>
      <p:sp>
        <p:nvSpPr>
          <p:cNvPr id="5" name="Google Shape;175;p23">
            <a:extLst>
              <a:ext uri="{FF2B5EF4-FFF2-40B4-BE49-F238E27FC236}">
                <a16:creationId xmlns:a16="http://schemas.microsoft.com/office/drawing/2014/main" id="{461E1B25-3316-8213-2458-7CB748C92089}"/>
              </a:ext>
            </a:extLst>
          </p:cNvPr>
          <p:cNvSpPr txBox="1">
            <a:spLocks/>
          </p:cNvSpPr>
          <p:nvPr/>
        </p:nvSpPr>
        <p:spPr>
          <a:xfrm>
            <a:off x="811505" y="1840390"/>
            <a:ext cx="5454317" cy="7143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1pPr>
            <a:lvl2pPr marL="914400" marR="0" lvl="1"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2pPr>
            <a:lvl3pPr marL="1371600" marR="0" lvl="2"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3pPr>
            <a:lvl4pPr marL="1828800" marR="0" lvl="3"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4pPr>
            <a:lvl5pPr marL="2286000" marR="0" lvl="4"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5pPr>
            <a:lvl6pPr marL="2743200" marR="0" lvl="5"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6pPr>
            <a:lvl7pPr marL="3200400" marR="0" lvl="6"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7pPr>
            <a:lvl8pPr marL="3657600" marR="0" lvl="7"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8pPr>
            <a:lvl9pPr marL="4114800" marR="0" lvl="8"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9pPr>
          </a:lstStyle>
          <a:p>
            <a:pPr marL="152400" indent="0">
              <a:buNone/>
            </a:pPr>
            <a:r>
              <a:rPr lang="es-MX" sz="1100" b="1" dirty="0"/>
              <a:t>Filtrado de la muestra</a:t>
            </a:r>
          </a:p>
          <a:p>
            <a:pPr marL="152400" indent="0">
              <a:buNone/>
            </a:pPr>
            <a:r>
              <a:rPr lang="es-MX" sz="1100" dirty="0"/>
              <a:t>- Selección explícita de micronegocios que solicitaron crédito en los últimos 12 meses.</a:t>
            </a:r>
            <a:br>
              <a:rPr lang="es-MX" sz="1100" dirty="0"/>
            </a:br>
            <a:r>
              <a:rPr lang="es-MX" sz="1100" dirty="0"/>
              <a:t>- Exclusión de observaciones con información faltante para garantizar consistencia.</a:t>
            </a:r>
          </a:p>
        </p:txBody>
      </p:sp>
      <p:sp>
        <p:nvSpPr>
          <p:cNvPr id="7" name="Google Shape;175;p23">
            <a:extLst>
              <a:ext uri="{FF2B5EF4-FFF2-40B4-BE49-F238E27FC236}">
                <a16:creationId xmlns:a16="http://schemas.microsoft.com/office/drawing/2014/main" id="{60388A96-145A-D3A9-1BFD-E4F29C7AB086}"/>
              </a:ext>
            </a:extLst>
          </p:cNvPr>
          <p:cNvSpPr txBox="1">
            <a:spLocks/>
          </p:cNvSpPr>
          <p:nvPr/>
        </p:nvSpPr>
        <p:spPr>
          <a:xfrm>
            <a:off x="811506" y="1126064"/>
            <a:ext cx="5454317" cy="7143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1pPr>
            <a:lvl2pPr marL="914400" marR="0" lvl="1"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2pPr>
            <a:lvl3pPr marL="1371600" marR="0" lvl="2"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3pPr>
            <a:lvl4pPr marL="1828800" marR="0" lvl="3"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4pPr>
            <a:lvl5pPr marL="2286000" marR="0" lvl="4"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5pPr>
            <a:lvl6pPr marL="2743200" marR="0" lvl="5"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6pPr>
            <a:lvl7pPr marL="3200400" marR="0" lvl="6"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7pPr>
            <a:lvl8pPr marL="3657600" marR="0" lvl="7"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8pPr>
            <a:lvl9pPr marL="4114800" marR="0" lvl="8"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9pPr>
          </a:lstStyle>
          <a:p>
            <a:pPr marL="152400" indent="0">
              <a:buNone/>
            </a:pPr>
            <a:r>
              <a:rPr lang="es-MX" sz="1100" b="1" dirty="0"/>
              <a:t>Carga y preparación de datos</a:t>
            </a:r>
          </a:p>
          <a:p>
            <a:pPr marL="152400" indent="0">
              <a:buNone/>
            </a:pPr>
            <a:r>
              <a:rPr lang="es-MX" sz="1100" dirty="0"/>
              <a:t>- Importación de la base de datos en formato .</a:t>
            </a:r>
            <a:r>
              <a:rPr lang="es-MX" sz="1100" dirty="0" err="1"/>
              <a:t>dta</a:t>
            </a:r>
            <a:r>
              <a:rPr lang="es-MX" sz="1100" dirty="0"/>
              <a:t> y carga de librerías para manipulación y visualización. </a:t>
            </a:r>
          </a:p>
        </p:txBody>
      </p:sp>
      <p:sp>
        <p:nvSpPr>
          <p:cNvPr id="8" name="Google Shape;175;p23">
            <a:extLst>
              <a:ext uri="{FF2B5EF4-FFF2-40B4-BE49-F238E27FC236}">
                <a16:creationId xmlns:a16="http://schemas.microsoft.com/office/drawing/2014/main" id="{BDE5B012-99DD-6BA9-EB46-05D8A00AAE3B}"/>
              </a:ext>
            </a:extLst>
          </p:cNvPr>
          <p:cNvSpPr txBox="1">
            <a:spLocks/>
          </p:cNvSpPr>
          <p:nvPr/>
        </p:nvSpPr>
        <p:spPr>
          <a:xfrm>
            <a:off x="811505" y="2554715"/>
            <a:ext cx="5454317" cy="7143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1pPr>
            <a:lvl2pPr marL="914400" marR="0" lvl="1"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2pPr>
            <a:lvl3pPr marL="1371600" marR="0" lvl="2"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3pPr>
            <a:lvl4pPr marL="1828800" marR="0" lvl="3"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4pPr>
            <a:lvl5pPr marL="2286000" marR="0" lvl="4"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5pPr>
            <a:lvl6pPr marL="2743200" marR="0" lvl="5"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6pPr>
            <a:lvl7pPr marL="3200400" marR="0" lvl="6"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7pPr>
            <a:lvl8pPr marL="3657600" marR="0" lvl="7"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8pPr>
            <a:lvl9pPr marL="4114800" marR="0" lvl="8"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9pPr>
          </a:lstStyle>
          <a:p>
            <a:pPr marL="152400" indent="0">
              <a:buNone/>
            </a:pPr>
            <a:r>
              <a:rPr lang="es-MX" sz="1100" b="1" dirty="0"/>
              <a:t>Análisis del acceso al crédito</a:t>
            </a:r>
          </a:p>
          <a:p>
            <a:pPr marL="152400" indent="0">
              <a:buNone/>
            </a:pPr>
            <a:r>
              <a:rPr lang="es-MX" sz="1100" dirty="0"/>
              <a:t>- Conteo de los resultados de la solicitud de crédito bancario.</a:t>
            </a:r>
            <a:br>
              <a:rPr lang="es-MX" sz="1100" dirty="0"/>
            </a:br>
            <a:r>
              <a:rPr lang="es-MX" sz="1100" dirty="0"/>
              <a:t>- Visualización de los resultados mediante gráficos de barras.</a:t>
            </a:r>
          </a:p>
        </p:txBody>
      </p:sp>
      <p:sp>
        <p:nvSpPr>
          <p:cNvPr id="9" name="Google Shape;175;p23">
            <a:extLst>
              <a:ext uri="{FF2B5EF4-FFF2-40B4-BE49-F238E27FC236}">
                <a16:creationId xmlns:a16="http://schemas.microsoft.com/office/drawing/2014/main" id="{766EA4D7-D596-60FE-282D-488AB0B4F4EB}"/>
              </a:ext>
            </a:extLst>
          </p:cNvPr>
          <p:cNvSpPr txBox="1">
            <a:spLocks/>
          </p:cNvSpPr>
          <p:nvPr/>
        </p:nvSpPr>
        <p:spPr>
          <a:xfrm>
            <a:off x="811506" y="3269042"/>
            <a:ext cx="5454316" cy="7143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1pPr>
            <a:lvl2pPr marL="914400" marR="0" lvl="1"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2pPr>
            <a:lvl3pPr marL="1371600" marR="0" lvl="2"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3pPr>
            <a:lvl4pPr marL="1828800" marR="0" lvl="3"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4pPr>
            <a:lvl5pPr marL="2286000" marR="0" lvl="4"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5pPr>
            <a:lvl6pPr marL="2743200" marR="0" lvl="5"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6pPr>
            <a:lvl7pPr marL="3200400" marR="0" lvl="6"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7pPr>
            <a:lvl8pPr marL="3657600" marR="0" lvl="7"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8pPr>
            <a:lvl9pPr marL="4114800" marR="0" lvl="8"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9pPr>
          </a:lstStyle>
          <a:p>
            <a:pPr marL="152400" indent="0">
              <a:buNone/>
            </a:pPr>
            <a:r>
              <a:rPr lang="es-MX" sz="1100" b="1" dirty="0"/>
              <a:t>Construcción de escenarios de financiación</a:t>
            </a:r>
          </a:p>
          <a:p>
            <a:pPr marL="152400" indent="0">
              <a:buNone/>
            </a:pPr>
            <a:r>
              <a:rPr lang="es-MX" sz="1100" dirty="0"/>
              <a:t>- Cálculo de frecuencias a partir de respuestas hipotéticas.</a:t>
            </a:r>
            <a:br>
              <a:rPr lang="es-MX" sz="1100" dirty="0"/>
            </a:br>
            <a:r>
              <a:rPr lang="es-MX" sz="1100" dirty="0"/>
              <a:t>- Agrupación de alternativas en cuatro tipos de comportamiento financiero.</a:t>
            </a:r>
          </a:p>
        </p:txBody>
      </p:sp>
      <p:sp>
        <p:nvSpPr>
          <p:cNvPr id="10" name="Google Shape;175;p23">
            <a:extLst>
              <a:ext uri="{FF2B5EF4-FFF2-40B4-BE49-F238E27FC236}">
                <a16:creationId xmlns:a16="http://schemas.microsoft.com/office/drawing/2014/main" id="{D7F5BDEB-0100-0D84-ABD7-FFF9D74E9041}"/>
              </a:ext>
            </a:extLst>
          </p:cNvPr>
          <p:cNvSpPr txBox="1">
            <a:spLocks/>
          </p:cNvSpPr>
          <p:nvPr/>
        </p:nvSpPr>
        <p:spPr>
          <a:xfrm>
            <a:off x="811505" y="3983368"/>
            <a:ext cx="5454317" cy="7143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1pPr>
            <a:lvl2pPr marL="914400" marR="0" lvl="1"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2pPr>
            <a:lvl3pPr marL="1371600" marR="0" lvl="2"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3pPr>
            <a:lvl4pPr marL="1828800" marR="0" lvl="3"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4pPr>
            <a:lvl5pPr marL="2286000" marR="0" lvl="4"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5pPr>
            <a:lvl6pPr marL="2743200" marR="0" lvl="5"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6pPr>
            <a:lvl7pPr marL="3200400" marR="0" lvl="6"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7pPr>
            <a:lvl8pPr marL="3657600" marR="0" lvl="7"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8pPr>
            <a:lvl9pPr marL="4114800" marR="0" lvl="8"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9pPr>
          </a:lstStyle>
          <a:p>
            <a:pPr marL="152400" indent="0">
              <a:buNone/>
            </a:pPr>
            <a:r>
              <a:rPr lang="es-MX" sz="1100" b="1" dirty="0"/>
              <a:t>Visualización y síntesis final</a:t>
            </a:r>
          </a:p>
          <a:p>
            <a:pPr marL="152400" indent="0">
              <a:buNone/>
            </a:pPr>
            <a:r>
              <a:rPr lang="es-MX" sz="1100" dirty="0"/>
              <a:t>- Conversión de frecuencias en porcentajes comparables.</a:t>
            </a:r>
            <a:br>
              <a:rPr lang="es-MX" sz="1100" dirty="0"/>
            </a:br>
            <a:r>
              <a:rPr lang="es-MX" sz="1100" dirty="0"/>
              <a:t>- Representación gráfica mediante un gráfico tipo donut con leyenda descriptiva.</a:t>
            </a:r>
          </a:p>
        </p:txBody>
      </p:sp>
      <p:sp>
        <p:nvSpPr>
          <p:cNvPr id="11" name="Google Shape;175;p23">
            <a:extLst>
              <a:ext uri="{FF2B5EF4-FFF2-40B4-BE49-F238E27FC236}">
                <a16:creationId xmlns:a16="http://schemas.microsoft.com/office/drawing/2014/main" id="{E6E4885E-A718-C1D8-EB45-DAF41695B253}"/>
              </a:ext>
            </a:extLst>
          </p:cNvPr>
          <p:cNvSpPr txBox="1">
            <a:spLocks/>
          </p:cNvSpPr>
          <p:nvPr/>
        </p:nvSpPr>
        <p:spPr>
          <a:xfrm>
            <a:off x="6470238" y="1964234"/>
            <a:ext cx="1839952" cy="18952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1pPr>
            <a:lvl2pPr marL="914400" marR="0" lvl="1"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2pPr>
            <a:lvl3pPr marL="1371600" marR="0" lvl="2"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3pPr>
            <a:lvl4pPr marL="1828800" marR="0" lvl="3"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4pPr>
            <a:lvl5pPr marL="2286000" marR="0" lvl="4"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5pPr>
            <a:lvl6pPr marL="2743200" marR="0" lvl="5"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6pPr>
            <a:lvl7pPr marL="3200400" marR="0" lvl="6"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7pPr>
            <a:lvl8pPr marL="3657600" marR="0" lvl="7"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8pPr>
            <a:lvl9pPr marL="4114800" marR="0" lvl="8" indent="-304800" algn="l" rtl="0">
              <a:lnSpc>
                <a:spcPct val="100000"/>
              </a:lnSpc>
              <a:spcBef>
                <a:spcPts val="0"/>
              </a:spcBef>
              <a:spcAft>
                <a:spcPts val="0"/>
              </a:spcAft>
              <a:buClr>
                <a:schemeClr val="dk1"/>
              </a:buClr>
              <a:buSzPts val="1200"/>
              <a:buFont typeface="Didact Gothic"/>
              <a:buChar char="■"/>
              <a:defRPr sz="1200" b="0" i="0" u="none" strike="noStrike" cap="none">
                <a:solidFill>
                  <a:schemeClr val="dk1"/>
                </a:solidFill>
                <a:latin typeface="Didact Gothic"/>
                <a:ea typeface="Didact Gothic"/>
                <a:cs typeface="Didact Gothic"/>
                <a:sym typeface="Didact Gothic"/>
              </a:defRPr>
            </a:lvl9pPr>
          </a:lstStyle>
          <a:p>
            <a:pPr marL="152400" indent="0">
              <a:buNone/>
            </a:pPr>
            <a:r>
              <a:rPr lang="es-MX" sz="1100" dirty="0"/>
              <a:t>La </a:t>
            </a:r>
            <a:r>
              <a:rPr lang="es-MX" sz="1100" b="1" dirty="0"/>
              <a:t>reproducibilidad</a:t>
            </a:r>
            <a:r>
              <a:rPr lang="es-MX" sz="1100" dirty="0"/>
              <a:t> del análisis se garantiza mediante el uso de una base de datos única, la aplicación de filtros claramente definidos y la implementación de un código estructurado que permite la replicación exacta de los resultados.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39"/>
          <p:cNvSpPr txBox="1">
            <a:spLocks noGrp="1"/>
          </p:cNvSpPr>
          <p:nvPr>
            <p:ph type="title"/>
          </p:nvPr>
        </p:nvSpPr>
        <p:spPr>
          <a:xfrm>
            <a:off x="720000" y="89633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Bibliografía</a:t>
            </a:r>
            <a:endParaRPr dirty="0"/>
          </a:p>
        </p:txBody>
      </p:sp>
      <p:sp>
        <p:nvSpPr>
          <p:cNvPr id="769" name="Google Shape;769;p39"/>
          <p:cNvSpPr txBox="1">
            <a:spLocks noGrp="1"/>
          </p:cNvSpPr>
          <p:nvPr>
            <p:ph type="body" idx="1"/>
          </p:nvPr>
        </p:nvSpPr>
        <p:spPr>
          <a:xfrm>
            <a:off x="720000" y="1572589"/>
            <a:ext cx="7704000" cy="657655"/>
          </a:xfrm>
          <a:prstGeom prst="rect">
            <a:avLst/>
          </a:prstGeom>
        </p:spPr>
        <p:txBody>
          <a:bodyPr spcFirstLastPara="1" wrap="square" lIns="91425" tIns="91425" rIns="91425" bIns="91425" anchor="t" anchorCtr="0">
            <a:noAutofit/>
          </a:bodyPr>
          <a:lstStyle/>
          <a:p>
            <a:pPr marL="0" indent="0">
              <a:buNone/>
            </a:pPr>
            <a:r>
              <a:rPr lang="es-MX" sz="1400" dirty="0"/>
              <a:t>Rodríguez Lesmes, P. (2023). Universidad del Rosario. </a:t>
            </a:r>
            <a:r>
              <a:rPr lang="es-CO" sz="1400" dirty="0"/>
              <a:t>Encuesta Emprendimiento Seguimiento Final</a:t>
            </a:r>
            <a:r>
              <a:rPr lang="es-MX" sz="1400" dirty="0"/>
              <a:t>. </a:t>
            </a:r>
            <a:r>
              <a:rPr lang="es-MX" sz="1400" dirty="0">
                <a:hlinkClick r:id="rId3"/>
              </a:rPr>
              <a:t>https://doi.org/10.34848/JLP6C3</a:t>
            </a:r>
            <a:r>
              <a:rPr lang="es-MX" sz="1400" dirty="0"/>
              <a:t> </a:t>
            </a:r>
          </a:p>
          <a:p>
            <a:pPr marL="0" lvl="0" indent="0" algn="l" rtl="0">
              <a:spcBef>
                <a:spcPts val="0"/>
              </a:spcBef>
              <a:spcAft>
                <a:spcPts val="0"/>
              </a:spcAft>
              <a:buNone/>
            </a:pPr>
            <a:endParaRPr sz="1400" dirty="0"/>
          </a:p>
        </p:txBody>
      </p:sp>
    </p:spTree>
  </p:cSld>
  <p:clrMapOvr>
    <a:masterClrMapping/>
  </p:clrMapOvr>
</p:sld>
</file>

<file path=ppt/theme/theme1.xml><?xml version="1.0" encoding="utf-8"?>
<a:theme xmlns:a="http://schemas.openxmlformats.org/drawingml/2006/main" name="Cycle Diagrams Theme for a Business Plan by Slidesgo">
  <a:themeElements>
    <a:clrScheme name="Simple Light">
      <a:dk1>
        <a:srgbClr val="1B1B1B"/>
      </a:dk1>
      <a:lt1>
        <a:srgbClr val="FAFAFA"/>
      </a:lt1>
      <a:dk2>
        <a:srgbClr val="374768"/>
      </a:dk2>
      <a:lt2>
        <a:srgbClr val="43567F"/>
      </a:lt2>
      <a:accent1>
        <a:srgbClr val="9BACCA"/>
      </a:accent1>
      <a:accent2>
        <a:srgbClr val="C2CDE5"/>
      </a:accent2>
      <a:accent3>
        <a:srgbClr val="FFFFFF"/>
      </a:accent3>
      <a:accent4>
        <a:srgbClr val="FFFFFF"/>
      </a:accent4>
      <a:accent5>
        <a:srgbClr val="FFFFFF"/>
      </a:accent5>
      <a:accent6>
        <a:srgbClr val="FFFFFF"/>
      </a:accent6>
      <a:hlink>
        <a:srgbClr val="1B1B1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362</Words>
  <Application>Microsoft Office PowerPoint</Application>
  <PresentationFormat>Presentación en pantalla (16:9)</PresentationFormat>
  <Paragraphs>25</Paragraphs>
  <Slides>6</Slides>
  <Notes>6</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6</vt:i4>
      </vt:variant>
    </vt:vector>
  </HeadingPairs>
  <TitlesOfParts>
    <vt:vector size="13" baseType="lpstr">
      <vt:lpstr>Arial</vt:lpstr>
      <vt:lpstr>Poppins</vt:lpstr>
      <vt:lpstr>Raleway</vt:lpstr>
      <vt:lpstr>Libre Franklin</vt:lpstr>
      <vt:lpstr>Nunito Light</vt:lpstr>
      <vt:lpstr>Didact Gothic</vt:lpstr>
      <vt:lpstr>Cycle Diagrams Theme for a Business Plan by Slidesgo</vt:lpstr>
      <vt:lpstr>¿Cómo se conectan los micronegocios con el sector financiero?</vt:lpstr>
      <vt:lpstr>Motivación</vt:lpstr>
      <vt:lpstr>Acceso al crédito bancario de los micronegocios</vt:lpstr>
      <vt:lpstr>Estrategias de financiamiento ante restricciones bancarias</vt:lpstr>
      <vt:lpstr>Organización del código y reproducibilidad del análisis</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Jose Luis Torres Herrera</dc:creator>
  <cp:lastModifiedBy>Sara Torres Bohorquez</cp:lastModifiedBy>
  <cp:revision>1</cp:revision>
  <dcterms:modified xsi:type="dcterms:W3CDTF">2026-02-04T05:47:31Z</dcterms:modified>
</cp:coreProperties>
</file>